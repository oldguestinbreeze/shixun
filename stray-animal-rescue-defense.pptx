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2377440" cy="731520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JavaWeb</a:t>
            </a:r>
            <a:br/>
            <a:r>
              <a:t>课程设计答辩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051560"/>
            <a:ext cx="6949440" cy="1051560"/>
          </a:xfrm>
          <a:prstGeom prst="roundRect">
            <a:avLst/>
          </a:prstGeom>
          <a:solidFill>
            <a:srgbClr val="F6FBF8"/>
          </a:solidFill>
          <a:ln w="15875">
            <a:solidFill>
              <a:srgbClr val="F6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3400" b="1">
                <a:solidFill>
                  <a:srgbClr val="276749"/>
                </a:solidFill>
                <a:latin typeface="Microsoft YaHei"/>
              </a:defRPr>
            </a:pPr>
            <a:r>
              <a:t>流浪动物救助智能信息公示平台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240280"/>
            <a:ext cx="3657600" cy="45720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设计与实现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063240"/>
            <a:ext cx="1965960" cy="347472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250" b="1">
                <a:solidFill>
                  <a:srgbClr val="276749"/>
                </a:solidFill>
                <a:latin typeface="Microsoft YaHei"/>
              </a:defRPr>
            </a:pPr>
            <a:r>
              <a:t>MVC 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063240"/>
            <a:ext cx="1965960" cy="347472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250" b="1">
                <a:solidFill>
                  <a:srgbClr val="276749"/>
                </a:solidFill>
                <a:latin typeface="Microsoft YaHei"/>
              </a:defRPr>
            </a:pPr>
            <a:r>
              <a:t>MySQL 数据库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3063240"/>
            <a:ext cx="1965960" cy="347472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250" b="1">
                <a:solidFill>
                  <a:srgbClr val="276749"/>
                </a:solidFill>
                <a:latin typeface="Microsoft YaHei"/>
              </a:defRPr>
            </a:pPr>
            <a:r>
              <a:t>前后台功能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3063240"/>
            <a:ext cx="1965960" cy="347472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250" b="1">
                <a:solidFill>
                  <a:srgbClr val="276749"/>
                </a:solidFill>
                <a:latin typeface="Microsoft YaHei"/>
              </a:defRPr>
            </a:pPr>
            <a:r>
              <a:t>运行截图演示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6217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9704" y="3831335"/>
            <a:ext cx="592531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答辩重点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4325112"/>
            <a:ext cx="5742431" cy="667512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说明项目运用的关键技术和分层架构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介绍数据库表设计和核心业务功能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通过运行截图展示系统实现效果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答辩内容概览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70432"/>
            <a:ext cx="4983480" cy="14173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1316736"/>
            <a:ext cx="566928" cy="566928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19" y="1325880"/>
            <a:ext cx="3931920" cy="310896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19" y="1682496"/>
            <a:ext cx="3931920" cy="77724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200" b="0">
                <a:solidFill>
                  <a:srgbClr val="586960"/>
                </a:solidFill>
                <a:latin typeface="Microsoft YaHei"/>
              </a:defRPr>
            </a:pPr>
            <a:r>
              <a:t>解决信息分散、过程难追踪、申请不规范等问题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70432"/>
            <a:ext cx="4983480" cy="14173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1" y="1316736"/>
            <a:ext cx="566928" cy="566928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325880"/>
            <a:ext cx="3931920" cy="310896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Microsoft YaHei"/>
              </a:defRPr>
            </a:pPr>
            <a:r>
              <a:t>技术实现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682496"/>
            <a:ext cx="3931920" cy="77724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200" b="0">
                <a:solidFill>
                  <a:srgbClr val="586960"/>
                </a:solidFill>
                <a:latin typeface="Microsoft YaHei"/>
              </a:defRPr>
            </a:pPr>
            <a:r>
              <a:t>Spring Boot、Spring MVC、Thymeleaf、JPA、Maven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27832"/>
            <a:ext cx="4983480" cy="14173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1832" y="3374136"/>
            <a:ext cx="566928" cy="566928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19" y="3383280"/>
            <a:ext cx="3931920" cy="310896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19" y="3739896"/>
            <a:ext cx="3931920" cy="77724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200" b="0">
                <a:solidFill>
                  <a:srgbClr val="586960"/>
                </a:solidFill>
                <a:latin typeface="Microsoft YaHei"/>
              </a:defRPr>
            </a:pPr>
            <a:r>
              <a:t>MySQL 正式库，围绕动物、案例、申请、志愿者、捐赠建表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227832"/>
            <a:ext cx="4983480" cy="14173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3951" y="3374136"/>
            <a:ext cx="566928" cy="566928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383280"/>
            <a:ext cx="3931920" cy="310896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Microsoft YaHei"/>
              </a:defRPr>
            </a:pPr>
            <a:r>
              <a:t>功能演示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739896"/>
            <a:ext cx="3931920" cy="77724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200" b="0">
                <a:solidFill>
                  <a:srgbClr val="586960"/>
                </a:solidFill>
                <a:latin typeface="Microsoft YaHei"/>
              </a:defRPr>
            </a:pPr>
            <a:r>
              <a:t>前台信息公示 + 后台数据维护，结合运行截图讲解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项目背景与建设目标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4846320" cy="4983480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1088136"/>
            <a:ext cx="4553712" cy="384048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F9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为什么要做这个系统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1581912"/>
            <a:ext cx="4370831" cy="4233672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流浪动物信息常分散在微信群、朋友圈和人工表格中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动物档案、救助进度、领养申请、志愿者和捐赠记录缺少统一维护入口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平台目标：公众可看、表单可提交、后台可管理、数据可持久化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课程目标：综合运用 Web 后端、前端、数据库和软件建模知识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960120"/>
            <a:ext cx="548640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045" y="1069848"/>
            <a:ext cx="3370068" cy="4453128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6035040" y="5596128"/>
            <a:ext cx="521208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首页：平台定位与公开入口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技术栈：系统用了什么技术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950976"/>
            <a:ext cx="3401568" cy="1572768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078992"/>
            <a:ext cx="3108960" cy="384048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后端框架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572768"/>
            <a:ext cx="2926080" cy="822960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Spring Boot 2.7.18</a:t>
            </a:r>
          </a:p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内置 Tomcat，便于直接运行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950976"/>
            <a:ext cx="3401568" cy="15727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078992"/>
            <a:ext cx="310896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MVC 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72768"/>
            <a:ext cx="2926080" cy="822960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Spring MVC</a:t>
            </a:r>
          </a:p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Controller 接收请求并组织页面数据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3" y="950976"/>
            <a:ext cx="3401568" cy="1572768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30767" y="1078992"/>
            <a:ext cx="3108960" cy="384048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页面渲染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1572768"/>
            <a:ext cx="2926080" cy="822960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Thymeleaf</a:t>
            </a:r>
          </a:p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服务端模板渲染 HTML 页面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82696"/>
            <a:ext cx="3401568" cy="15727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410712"/>
            <a:ext cx="310896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数据访问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904487"/>
            <a:ext cx="2926080" cy="822960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Spring Data JPA + Hibernate</a:t>
            </a:r>
          </a:p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实体映射和 Repository 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3282696"/>
            <a:ext cx="3401568" cy="1572768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3410712"/>
            <a:ext cx="3108960" cy="384048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04487"/>
            <a:ext cx="2926080" cy="822960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MySQL 正式部署</a:t>
            </a:r>
          </a:p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H2 内存库便于课堂演示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3" y="3282696"/>
            <a:ext cx="3401568" cy="15727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7" y="3410712"/>
            <a:ext cx="310896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3904487"/>
            <a:ext cx="2926080" cy="822960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Maven</a:t>
            </a:r>
          </a:p>
          <a:p>
            <a:pPr>
              <a:spcAft>
                <a:spcPts val="500"/>
              </a:spcAft>
              <a:defRPr sz="1350" b="0">
                <a:solidFill>
                  <a:srgbClr val="1F3528"/>
                </a:solidFill>
                <a:latin typeface="Microsoft YaHei"/>
              </a:defRPr>
            </a:pPr>
            <a:r>
              <a:t>• 依赖管理、测试和 Jar 打包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MVC 架构：页面、控制、数据分层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4023360" cy="5120640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042416"/>
            <a:ext cx="3730752" cy="384048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F9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分层说明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536192"/>
            <a:ext cx="3547872" cy="4370831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View：Thymeleaf 页面 + CSS，负责前台和后台展示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Controller：PublicController 和 AdminController 分别处理公众端与后台端请求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Model：Animal、RescueCase、Application 等实体承载业务数据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Repository：Spring Data JPA 完成数据库访问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好处：职责清晰，便于维护和扩展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914400"/>
            <a:ext cx="6629400" cy="5120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60678"/>
            <a:ext cx="6409944" cy="3917188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5029200" y="5687568"/>
            <a:ext cx="635508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系统总体架构图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数据库设计：MySQL 与核心实体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4069080" cy="5120640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" y="1042416"/>
            <a:ext cx="3776472" cy="384048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F9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数据库说明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536192"/>
            <a:ext cx="3593592" cy="4370831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正式部署建议使用 MySQL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开发演示默认支持 H2 内存数据库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提供 schema.sql，可直接建库建表并初始化数据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核心实体：动物、救助案例、领养申请、志愿者、捐赠、管理员</a:t>
            </a:r>
          </a:p>
          <a:p>
            <a:pPr>
              <a:spcAft>
                <a:spcPts val="500"/>
              </a:spcAft>
              <a:defRPr sz="1500" b="0">
                <a:solidFill>
                  <a:srgbClr val="1F3528"/>
                </a:solidFill>
                <a:latin typeface="Microsoft YaHei"/>
              </a:defRPr>
            </a:pPr>
            <a:r>
              <a:t>• 关键关系：一只动物可以对应多条领养申请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914400"/>
            <a:ext cx="6629400" cy="5120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5-database-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60678"/>
            <a:ext cx="6409944" cy="3917188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5029200" y="5687568"/>
            <a:ext cx="635508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数据库 ER 关系图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数据库表：业务数据如何落库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960120"/>
            <a:ext cx="2743200" cy="5029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500" b="1">
                <a:solidFill>
                  <a:srgbClr val="276749"/>
                </a:solidFill>
                <a:latin typeface="Microsoft YaHei"/>
              </a:defRPr>
            </a:pPr>
            <a:r>
              <a:t>animals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960120"/>
            <a:ext cx="7452360" cy="502920"/>
          </a:xfrm>
          <a:prstGeom prst="roundRect">
            <a:avLst/>
          </a:prstGeom>
          <a:solidFill>
            <a:srgbClr val="F3FAF6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450" b="0">
                <a:solidFill>
                  <a:srgbClr val="1F3528"/>
                </a:solidFill>
                <a:latin typeface="Microsoft YaHei"/>
              </a:defRPr>
            </a:pPr>
            <a:r>
              <a:t>动物档案：名称、种类、健康状态、所在地、领养状态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09928"/>
            <a:ext cx="2743200" cy="5029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500" b="1">
                <a:solidFill>
                  <a:srgbClr val="276749"/>
                </a:solidFill>
                <a:latin typeface="Microsoft YaHei"/>
              </a:defRPr>
            </a:pPr>
            <a:r>
              <a:t>rescue_cases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709928"/>
            <a:ext cx="74523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450" b="0">
                <a:solidFill>
                  <a:srgbClr val="1F3528"/>
                </a:solidFill>
                <a:latin typeface="Microsoft YaHei"/>
              </a:defRPr>
            </a:pPr>
            <a:r>
              <a:t>救助案例：地点、状态、发现时间、描述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9736"/>
            <a:ext cx="2743200" cy="5029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500" b="1">
                <a:solidFill>
                  <a:srgbClr val="276749"/>
                </a:solidFill>
                <a:latin typeface="Microsoft YaHei"/>
              </a:defRPr>
            </a:pPr>
            <a:r>
              <a:t>adoption_applications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459736"/>
            <a:ext cx="7452360" cy="502920"/>
          </a:xfrm>
          <a:prstGeom prst="roundRect">
            <a:avLst/>
          </a:prstGeom>
          <a:solidFill>
            <a:srgbClr val="F3FAF6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450" b="0">
                <a:solidFill>
                  <a:srgbClr val="1F3528"/>
                </a:solidFill>
                <a:latin typeface="Microsoft YaHei"/>
              </a:defRPr>
            </a:pPr>
            <a:r>
              <a:t>领养申请：申请人、电话、申请理由、审核状态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9544"/>
            <a:ext cx="2743200" cy="5029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500" b="1">
                <a:solidFill>
                  <a:srgbClr val="276749"/>
                </a:solidFill>
                <a:latin typeface="Microsoft YaHei"/>
              </a:defRPr>
            </a:pPr>
            <a:r>
              <a:t>volunteers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209544"/>
            <a:ext cx="74523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450" b="0">
                <a:solidFill>
                  <a:srgbClr val="1F3528"/>
                </a:solidFill>
                <a:latin typeface="Microsoft YaHei"/>
              </a:defRPr>
            </a:pPr>
            <a:r>
              <a:t>志愿者：技能、可服务时间、联系方式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59352"/>
            <a:ext cx="2743200" cy="5029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500" b="1">
                <a:solidFill>
                  <a:srgbClr val="276749"/>
                </a:solidFill>
                <a:latin typeface="Microsoft YaHei"/>
              </a:defRPr>
            </a:pPr>
            <a:r>
              <a:t>donations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3959352"/>
            <a:ext cx="7452360" cy="502920"/>
          </a:xfrm>
          <a:prstGeom prst="roundRect">
            <a:avLst/>
          </a:prstGeom>
          <a:solidFill>
            <a:srgbClr val="F3FAF6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450" b="0">
                <a:solidFill>
                  <a:srgbClr val="1F3528"/>
                </a:solidFill>
                <a:latin typeface="Microsoft YaHei"/>
              </a:defRPr>
            </a:pPr>
            <a:r>
              <a:t>捐赠记录：资金或物资信息、捐赠人、时间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59"/>
            <a:ext cx="2743200" cy="5029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500" b="1">
                <a:solidFill>
                  <a:srgbClr val="276749"/>
                </a:solidFill>
                <a:latin typeface="Microsoft YaHei"/>
              </a:defRPr>
            </a:pPr>
            <a:r>
              <a:t>admin_users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709159"/>
            <a:ext cx="74523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450" b="0">
                <a:solidFill>
                  <a:srgbClr val="1F3528"/>
                </a:solidFill>
                <a:latin typeface="Microsoft YaHei"/>
              </a:defRPr>
            </a:pPr>
            <a:r>
              <a:t>管理员：后台账号、密码摘要、角色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项目功能模块：前台 + 后台 + 数据支撑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571500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-function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17218"/>
            <a:ext cx="5495544" cy="3358388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31520" y="5641848"/>
            <a:ext cx="544068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系统功能模块结构图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914400"/>
            <a:ext cx="4709160" cy="5074920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84264" y="1042416"/>
            <a:ext cx="4416552" cy="384048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F9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讲解要点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1536192"/>
            <a:ext cx="4233672" cy="4325112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前台面向公众，主要负责信息公示与在线提交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后台面向管理员，主要负责数据维护与审核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数据库统一存储业务数据，保证前后台数据一致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模块覆盖完整：动物、案例、申请、志愿者、捐赠、后台管理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前台演示：首页与动物公示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557784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205" y="1024128"/>
            <a:ext cx="3439268" cy="4544568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40080" y="5641848"/>
            <a:ext cx="530352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首页：统计数据、推荐动物、救助进展入口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914400"/>
            <a:ext cx="54406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nimal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24788"/>
            <a:ext cx="5221224" cy="3543246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6400800" y="5641848"/>
            <a:ext cx="51663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动物公示：卡片式展示待领养动物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前台演示：动物详情与领养申请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557784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-animal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90102"/>
            <a:ext cx="5358383" cy="3012619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40080" y="5641848"/>
            <a:ext cx="530352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动物详情：展示状态、地点、描述和领养入口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914400"/>
            <a:ext cx="54406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-adoption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268696"/>
            <a:ext cx="5221224" cy="4055430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6400800" y="5641848"/>
            <a:ext cx="51663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领养申请：填写申请人信息和申请理由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前台演示：救助、志愿者与捐赠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36118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cue-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973962"/>
            <a:ext cx="3392424" cy="2644898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40080" y="5641848"/>
            <a:ext cx="33375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救助案例公示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914400"/>
            <a:ext cx="36118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volunteer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227276"/>
            <a:ext cx="3392424" cy="2138270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416552" y="5641848"/>
            <a:ext cx="33375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志愿者报名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914400"/>
            <a:ext cx="36118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-donation-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135388"/>
            <a:ext cx="3392424" cy="2322047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8202168" y="5641848"/>
            <a:ext cx="33375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爱心捐赠登记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后台演示：登录与管理看板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507492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admi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1479"/>
            <a:ext cx="4855464" cy="2729865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85800" y="5641848"/>
            <a:ext cx="480060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后台登录：admin / admin123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914400"/>
            <a:ext cx="557784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1790102"/>
            <a:ext cx="5358383" cy="3012619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6035040" y="5641848"/>
            <a:ext cx="530352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管理看板：集中展示业务统计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后台演示：数据维护与审核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36118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admin-anim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65350"/>
            <a:ext cx="3392424" cy="3062122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40080" y="5641848"/>
            <a:ext cx="33375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动物档案管理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914400"/>
            <a:ext cx="36118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admin-appl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342758"/>
            <a:ext cx="3392424" cy="1907307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416552" y="5641848"/>
            <a:ext cx="33375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领养申请审核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914400"/>
            <a:ext cx="36118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-admin-don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342758"/>
            <a:ext cx="3392424" cy="1907307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8202168" y="5641848"/>
            <a:ext cx="33375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捐赠公示管理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运行与部署方式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4526280" cy="5074920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1042416"/>
            <a:ext cx="4233672" cy="384048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F9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IDEA 运行步骤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1536192"/>
            <a:ext cx="4050791" cy="4325112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打开 Maven 项目，配置 JDK 17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运行 ShixunApplication 主类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浏览器访问 http://localhost:8080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后台访问 /admin，账号 admin / admin123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正式部署时导入 MySQL 脚本，并用 java -jar 启动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914400"/>
            <a:ext cx="589788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-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561338"/>
            <a:ext cx="5678424" cy="3470148"/>
          </a:xfrm>
          <a:prstGeom prst="rect">
            <a:avLst/>
          </a:prstGeom>
          <a:ln w="12700">
            <a:solidFill>
              <a:srgbClr val="DAE8D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5623560" y="5641848"/>
            <a:ext cx="5623560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050" b="0">
                <a:solidFill>
                  <a:srgbClr val="586960"/>
                </a:solidFill>
                <a:latin typeface="Microsoft YaHei"/>
              </a:defRPr>
            </a:pPr>
            <a:r>
              <a:t>系统运行部署图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测试验证与项目亮点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3383280" cy="14173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106424"/>
            <a:ext cx="566928" cy="566928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115568"/>
            <a:ext cx="2331720" cy="310896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Microsoft YaHei"/>
              </a:defRPr>
            </a:pPr>
            <a:r>
              <a:t>构建测试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472184"/>
            <a:ext cx="2331720" cy="77724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200" b="0">
                <a:solidFill>
                  <a:srgbClr val="586960"/>
                </a:solidFill>
                <a:latin typeface="Microsoft YaHei"/>
              </a:defRPr>
            </a:pPr>
            <a:r>
              <a:t>mvn test、mvn package 通过，Jar 包可运行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960120"/>
            <a:ext cx="3383280" cy="14173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1" y="1106424"/>
            <a:ext cx="566928" cy="566928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115568"/>
            <a:ext cx="2331720" cy="310896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Microsoft YaHei"/>
              </a:defRPr>
            </a:pPr>
            <a:r>
              <a:t>功能测试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472184"/>
            <a:ext cx="2331720" cy="77724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200" b="0">
                <a:solidFill>
                  <a:srgbClr val="586960"/>
                </a:solidFill>
                <a:latin typeface="Microsoft YaHei"/>
              </a:defRPr>
            </a:pPr>
            <a:r>
              <a:t>首页、列表、表单、后台登录和页面跳转正常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960120"/>
            <a:ext cx="3246120" cy="141732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8471" y="1106424"/>
            <a:ext cx="566928" cy="566928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115568"/>
            <a:ext cx="2194560" cy="310896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Microsoft YaHei"/>
              </a:defRPr>
            </a:pPr>
            <a:r>
              <a:t>展示效果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472184"/>
            <a:ext cx="2194560" cy="777240"/>
          </a:xfrm>
          <a:prstGeom prst="round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200" b="0">
                <a:solidFill>
                  <a:srgbClr val="586960"/>
                </a:solidFill>
                <a:latin typeface="Microsoft YaHei"/>
              </a:defRPr>
            </a:pPr>
            <a:r>
              <a:t>前后台导航区分清晰，页面风格统一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971800"/>
            <a:ext cx="4892040" cy="2148840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4983" y="3099816"/>
            <a:ext cx="4599431" cy="384048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F9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" y="3593592"/>
            <a:ext cx="4416552" cy="1399032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主题贴近公益场景，业务逻辑完整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前台公示与后台维护形成闭环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数据库实体覆盖主要业务对象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971800"/>
            <a:ext cx="4800600" cy="2148840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18504" y="3099816"/>
            <a:ext cx="4507992" cy="384048"/>
          </a:xfrm>
          <a:prstGeom prst="roundRect">
            <a:avLst/>
          </a:prstGeom>
          <a:solidFill>
            <a:srgbClr val="F9FDFB"/>
          </a:solidFill>
          <a:ln w="15875">
            <a:solidFill>
              <a:srgbClr val="F9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后续扩展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593592"/>
            <a:ext cx="4325112" cy="1399032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图片上传、地图定位、消息通知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移动端适配、分页搜索、权限控制</a:t>
            </a:r>
          </a:p>
          <a:p>
            <a:pPr>
              <a:spcAft>
                <a:spcPts val="500"/>
              </a:spcAft>
              <a:defRPr sz="1600" b="0">
                <a:solidFill>
                  <a:srgbClr val="1F3528"/>
                </a:solidFill>
                <a:latin typeface="Microsoft YaHei"/>
              </a:defRPr>
            </a:pPr>
            <a:r>
              <a:t>• 引入 Spring Security 提升后台安全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4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55448"/>
            <a:ext cx="7863840" cy="384048"/>
          </a:xfrm>
          <a:prstGeom prst="rect">
            <a:avLst/>
          </a:prstGeom>
          <a:solidFill>
            <a:srgbClr val="E4F6EC"/>
          </a:solidFill>
          <a:ln w="15875">
            <a:solidFill>
              <a:srgbClr val="E4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2200" b="1">
                <a:solidFill>
                  <a:srgbClr val="276749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164592"/>
            <a:ext cx="685800" cy="329184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051560"/>
            <a:ext cx="1028700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0704" y="1179576"/>
            <a:ext cx="9994392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l">
              <a:defRPr sz="1700" b="1">
                <a:solidFill>
                  <a:srgbClr val="276749"/>
                </a:solidFill>
                <a:latin typeface="Microsoft YaHei"/>
              </a:defRPr>
            </a:pPr>
            <a:r>
              <a:t>本项目完成情况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1673352"/>
            <a:ext cx="9811512" cy="2221992"/>
          </a:xfrm>
          <a:prstGeom prst="rect">
            <a:avLst/>
          </a:prstGeom>
          <a:noFill/>
        </p:spPr>
        <p:txBody>
          <a:bodyPr wrap="square" anchor="t" lIns="146304" rIns="146304" tIns="73152" bIns="73152">
            <a:norm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F3528"/>
                </a:solidFill>
                <a:latin typeface="Microsoft YaHei"/>
              </a:defRPr>
            </a:pPr>
            <a:r>
              <a:t>• 完成一个基于 MVC 模式的 JavaWeb 流浪动物救助信息公示平台</a:t>
            </a:r>
          </a:p>
          <a:p>
            <a:pPr>
              <a:spcAft>
                <a:spcPts val="500"/>
              </a:spcAft>
              <a:defRPr sz="1900" b="0">
                <a:solidFill>
                  <a:srgbClr val="1F3528"/>
                </a:solidFill>
                <a:latin typeface="Microsoft YaHei"/>
              </a:defRPr>
            </a:pPr>
            <a:r>
              <a:t>• 实现前台信息公示、在线申请、志愿者报名、捐赠登记和后台管理</a:t>
            </a:r>
          </a:p>
          <a:p>
            <a:pPr>
              <a:spcAft>
                <a:spcPts val="500"/>
              </a:spcAft>
              <a:defRPr sz="1900" b="0">
                <a:solidFill>
                  <a:srgbClr val="1F3528"/>
                </a:solidFill>
                <a:latin typeface="Microsoft YaHei"/>
              </a:defRPr>
            </a:pPr>
            <a:r>
              <a:t>• 使用 MySQL/H2 完成数据持久化，提供可直接运行的数据库 SQL</a:t>
            </a:r>
          </a:p>
          <a:p>
            <a:pPr>
              <a:spcAft>
                <a:spcPts val="500"/>
              </a:spcAft>
              <a:defRPr sz="1900" b="0">
                <a:solidFill>
                  <a:srgbClr val="1F3528"/>
                </a:solidFill>
                <a:latin typeface="Microsoft YaHei"/>
              </a:defRPr>
            </a:pPr>
            <a:r>
              <a:t>• 通过页面运行截图和测试结果验证系统可用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4892040"/>
            <a:ext cx="7498079" cy="685800"/>
          </a:xfrm>
          <a:prstGeom prst="roundRect">
            <a:avLst/>
          </a:prstGeom>
          <a:solidFill>
            <a:srgbClr val="276749"/>
          </a:solidFill>
          <a:ln w="1587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>
            <a:norm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答辩结束，感谢各位老师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