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2468880" cy="64008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JavaWeb
课程设计答辩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6949440" cy="10058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276749"/>
                </a:solidFill>
                <a:latin typeface="Microsoft YaHei"/>
              </a:rPr>
              <a:t>流浪动物救助智能信息公示平台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31720"/>
            <a:ext cx="6858000" cy="59436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528"/>
                </a:solidFill>
                <a:latin typeface="Microsoft YaHei"/>
              </a:rPr>
              <a:t>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3246120"/>
            <a:ext cx="6217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28"/>
                </a:solidFill>
                <a:latin typeface="Microsoft YaHei"/>
              </a:defRPr>
            </a:pPr>
            <a:r>
              <a:t>基于 MVC 模式的 JavaWeb 信息系统</a:t>
            </a:r>
          </a:p>
          <a:p>
            <a:pPr>
              <a:spcAft>
                <a:spcPts val="800"/>
              </a:spcAft>
              <a:defRPr sz="2000">
                <a:solidFill>
                  <a:srgbClr val="1F3528"/>
                </a:solidFill>
                <a:latin typeface="Microsoft YaHei"/>
              </a:defRPr>
            </a:pPr>
            <a:r>
              <a:t>Spring Boot + Thymeleaf + JPA + MySQL</a:t>
            </a:r>
          </a:p>
          <a:p>
            <a:pPr>
              <a:spcAft>
                <a:spcPts val="800"/>
              </a:spcAft>
              <a:defRPr sz="2000">
                <a:solidFill>
                  <a:srgbClr val="1F3528"/>
                </a:solidFill>
                <a:latin typeface="Microsoft YaHei"/>
              </a:defRPr>
            </a:pPr>
            <a:r>
              <a:t>覆盖前台公示、在线申请、后台管理与数据库设计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5897880"/>
            <a:ext cx="5486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07568"/>
                </a:solidFill>
                <a:latin typeface="Microsoft YaHei"/>
              </a:rPr>
              <a:t>答辩重点：技术、数据库、功能、运行效果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答辩内容概览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5029200" cy="1508760"/>
          </a:xfrm>
          <a:prstGeom prst="roundRect">
            <a:avLst/>
          </a:prstGeom>
          <a:solidFill>
            <a:srgbClr val="FAFDFB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289304"/>
            <a:ext cx="47000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项目目标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709928"/>
            <a:ext cx="4700016" cy="85039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解决流浪动物信息分散、救助过程难追踪、领养申请不规范的问题。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143000"/>
            <a:ext cx="5029200" cy="1508760"/>
          </a:xfrm>
          <a:prstGeom prst="roundRect">
            <a:avLst/>
          </a:prstGeom>
          <a:solidFill>
            <a:srgbClr val="FAFDFB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289304"/>
            <a:ext cx="47000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技术实现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1709928"/>
            <a:ext cx="4700016" cy="85039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Java 17、Spring Boot、Spring MVC、Thymeleaf、Spring Data JPA、Maven。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37560"/>
            <a:ext cx="5029200" cy="1508760"/>
          </a:xfrm>
          <a:prstGeom prst="roundRect">
            <a:avLst/>
          </a:prstGeom>
          <a:solidFill>
            <a:srgbClr val="FAFDFB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483864"/>
            <a:ext cx="47000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数据库设计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04487"/>
            <a:ext cx="4700016" cy="85039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MySQL 为正式库，H2 便于演示；围绕动物、案例、申请、志愿者、捐赠建模。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3337560"/>
            <a:ext cx="5029200" cy="1508760"/>
          </a:xfrm>
          <a:prstGeom prst="roundRect">
            <a:avLst/>
          </a:prstGeom>
          <a:solidFill>
            <a:srgbClr val="FAFDFB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1" y="3483864"/>
            <a:ext cx="47000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功能演示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3904487"/>
            <a:ext cx="4700016" cy="85039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前台信息公示 + 后台管理维护，展示真实运行截图。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项目背景与建设目标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现实痛点：救助信息常分散在微信群、朋友圈和人工表格中。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管理难点：动物档案、救助进度、领养申请、志愿者和捐赠数据缺少统一维护入口。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建设目标：做一个“公众可看、表单可提交、后台可维护、数据可持久化”的公益信息平台。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课程目标：综合运用 Web 服务器端技术、Web 前端、数据库原理与软件建模知识。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960120"/>
            <a:ext cx="521208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748" y="1069848"/>
            <a:ext cx="2754182" cy="3639311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537960" y="4773168"/>
            <a:ext cx="493776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首页：平台定位与公开入口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技术栈：用了什么技术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3429000" cy="1691640"/>
          </a:xfrm>
          <a:prstGeom prst="roundRect">
            <a:avLst/>
          </a:prstGeom>
          <a:solidFill>
            <a:srgbClr val="EFF8F2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060704"/>
            <a:ext cx="30998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后端框架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481328"/>
            <a:ext cx="3099816" cy="103327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Spring Boot 2.7.18
内置 Tomcat，简化 JavaWeb 部署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914400"/>
            <a:ext cx="3429000" cy="1691640"/>
          </a:xfrm>
          <a:prstGeom prst="roundRect">
            <a:avLst/>
          </a:prstGeom>
          <a:solidFill>
            <a:srgbClr val="FAFDFB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060704"/>
            <a:ext cx="30998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MVC 控制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1481328"/>
            <a:ext cx="3099816" cy="103327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Spring MVC
Controller 处理请求并返回页面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914400"/>
            <a:ext cx="3429000" cy="1691640"/>
          </a:xfrm>
          <a:prstGeom prst="roundRect">
            <a:avLst/>
          </a:prstGeom>
          <a:solidFill>
            <a:srgbClr val="EFF8F2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1060704"/>
            <a:ext cx="30998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模板页面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1481328"/>
            <a:ext cx="3099816" cy="103327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Thymeleaf
服务端渲染 HTML 页面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429000" cy="1691640"/>
          </a:xfrm>
          <a:prstGeom prst="roundRect">
            <a:avLst/>
          </a:prstGeom>
          <a:solidFill>
            <a:srgbClr val="FAFDFB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392424"/>
            <a:ext cx="30998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数据访问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813048"/>
            <a:ext cx="3099816" cy="103327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Spring Data JPA + Hibernate
实体映射与 Repository 查询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246120"/>
            <a:ext cx="3429000" cy="1691640"/>
          </a:xfrm>
          <a:prstGeom prst="roundRect">
            <a:avLst/>
          </a:prstGeom>
          <a:solidFill>
            <a:srgbClr val="EFF8F2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392424"/>
            <a:ext cx="30998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数据库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3813048"/>
            <a:ext cx="3099816" cy="103327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MySQL 正式部署
H2 内存库用于快速演示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3246120"/>
            <a:ext cx="3429000" cy="1691640"/>
          </a:xfrm>
          <a:prstGeom prst="roundRect">
            <a:avLst/>
          </a:prstGeom>
          <a:solidFill>
            <a:srgbClr val="FAFDFB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9912" y="3392424"/>
            <a:ext cx="30998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构建工具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3813048"/>
            <a:ext cx="3099816" cy="103327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Maven
管理依赖、测试与 Jar 打包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MVC 架构设计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3528"/>
                </a:solidFill>
                <a:latin typeface="Microsoft YaHei"/>
              </a:defRPr>
            </a:pPr>
            <a:r>
              <a:t>View：Thymeleaf 页面 + CSS 样式，负责前台和后台展示。</a:t>
            </a:r>
          </a:p>
          <a:p>
            <a:pPr>
              <a:spcAft>
                <a:spcPts val="800"/>
              </a:spcAft>
              <a:defRPr sz="1800">
                <a:solidFill>
                  <a:srgbClr val="1F3528"/>
                </a:solidFill>
                <a:latin typeface="Microsoft YaHei"/>
              </a:defRPr>
            </a:pPr>
            <a:r>
              <a:t>Controller：PublicController 处理公众页面；AdminController 处理后台管理。</a:t>
            </a:r>
          </a:p>
          <a:p>
            <a:pPr>
              <a:spcAft>
                <a:spcPts val="800"/>
              </a:spcAft>
              <a:defRPr sz="1800">
                <a:solidFill>
                  <a:srgbClr val="1F3528"/>
                </a:solidFill>
                <a:latin typeface="Microsoft YaHei"/>
              </a:defRPr>
            </a:pPr>
            <a:r>
              <a:t>Model：Animal、RescueCase、AdoptionApplication 等实体类承载业务数据。</a:t>
            </a:r>
          </a:p>
          <a:p>
            <a:pPr>
              <a:spcAft>
                <a:spcPts val="800"/>
              </a:spcAft>
              <a:defRPr sz="1800">
                <a:solidFill>
                  <a:srgbClr val="1F3528"/>
                </a:solidFill>
                <a:latin typeface="Microsoft YaHei"/>
              </a:defRPr>
            </a:pPr>
            <a:r>
              <a:t>Repository：通过 Spring Data JPA 完成数据库增删改查。</a:t>
            </a:r>
          </a:p>
          <a:p>
            <a:pPr>
              <a:spcAft>
                <a:spcPts val="800"/>
              </a:spcAft>
              <a:defRPr sz="1800">
                <a:solidFill>
                  <a:srgbClr val="1F3528"/>
                </a:solidFill>
                <a:latin typeface="Microsoft YaHei"/>
              </a:defRPr>
            </a:pPr>
            <a:r>
              <a:t>优势：页面、控制逻辑、数据模型分离，便于维护和扩展。</a:t>
            </a:r>
          </a:p>
        </p:txBody>
      </p:sp>
      <p:pic>
        <p:nvPicPr>
          <p:cNvPr id="7" name="Picture 6" descr="13-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6690"/>
            <a:ext cx="6903720" cy="4218940"/>
          </a:xfrm>
          <a:prstGeom prst="rect">
            <a:avLst/>
          </a:prstGeom>
          <a:ln>
            <a:solidFill>
              <a:srgbClr val="DCE8E0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数据库：MySQL + 核心表设计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4251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3528"/>
                </a:solidFill>
                <a:latin typeface="Microsoft YaHei"/>
              </a:defRPr>
            </a:pPr>
            <a:r>
              <a:t>正式部署建议使用 MySQL，项目提供 schema.sql，可直接建库建表。</a:t>
            </a:r>
          </a:p>
          <a:p>
            <a:pPr>
              <a:spcAft>
                <a:spcPts val="800"/>
              </a:spcAft>
              <a:defRPr sz="1800">
                <a:solidFill>
                  <a:srgbClr val="1F3528"/>
                </a:solidFill>
                <a:latin typeface="Microsoft YaHei"/>
              </a:defRPr>
            </a:pPr>
            <a:r>
              <a:t>开发演示支持 H2 内存数据库，IDEA 运行更方便。</a:t>
            </a:r>
          </a:p>
          <a:p>
            <a:pPr>
              <a:spcAft>
                <a:spcPts val="800"/>
              </a:spcAft>
              <a:defRPr sz="1800">
                <a:solidFill>
                  <a:srgbClr val="1F3528"/>
                </a:solidFill>
                <a:latin typeface="Microsoft YaHei"/>
              </a:defRPr>
            </a:pPr>
            <a:r>
              <a:t>核心实体：动物档案、救助案例、领养申请、志愿者、捐赠记录、管理员用户。</a:t>
            </a:r>
          </a:p>
          <a:p>
            <a:pPr>
              <a:spcAft>
                <a:spcPts val="800"/>
              </a:spcAft>
              <a:defRPr sz="1800">
                <a:solidFill>
                  <a:srgbClr val="1F3528"/>
                </a:solidFill>
                <a:latin typeface="Microsoft YaHei"/>
              </a:defRPr>
            </a:pPr>
            <a:r>
              <a:t>关键关系：一只动物可对应多条领养申请；后台统一维护公示数据。</a:t>
            </a:r>
          </a:p>
        </p:txBody>
      </p:sp>
      <p:pic>
        <p:nvPicPr>
          <p:cNvPr id="7" name="Picture 6" descr="15-database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35099"/>
            <a:ext cx="6675120" cy="4079240"/>
          </a:xfrm>
          <a:prstGeom prst="rect">
            <a:avLst/>
          </a:prstGeom>
          <a:ln>
            <a:solidFill>
              <a:srgbClr val="DCE8E0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数据库表：业务数据如何落库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06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960120"/>
          <a:ext cx="10515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7680960"/>
              </a:tblGrid>
              <a:tr h="627017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表名</a:t>
                      </a:r>
                    </a:p>
                  </a:txBody>
                  <a:tcPr>
                    <a:solidFill>
                      <a:srgbClr val="2767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>
                    <a:solidFill>
                      <a:srgbClr val="27674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animals</a:t>
                      </a:r>
                    </a:p>
                  </a:txBody>
                  <a:tcPr>
                    <a:solidFill>
                      <a:srgbClr val="EF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动物名称、类别、健康状态、所在地、领养状态</a:t>
                      </a:r>
                    </a:p>
                  </a:txBody>
                  <a:tcPr>
                    <a:solidFill>
                      <a:srgbClr val="EFF8F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rescue_cases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救助地点、救助状态、发现时间、案例描述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adoption_applications</a:t>
                      </a:r>
                    </a:p>
                  </a:txBody>
                  <a:tcPr>
                    <a:solidFill>
                      <a:srgbClr val="EF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申请人、电话、居住条件、申请理由、审核状态</a:t>
                      </a:r>
                    </a:p>
                  </a:txBody>
                  <a:tcPr>
                    <a:solidFill>
                      <a:srgbClr val="EFF8F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volunteers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志愿者联系方式、技能、可服务时间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donations</a:t>
                      </a:r>
                    </a:p>
                  </a:txBody>
                  <a:tcPr>
                    <a:solidFill>
                      <a:srgbClr val="EF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资金/物资捐赠记录与公示</a:t>
                      </a:r>
                    </a:p>
                  </a:txBody>
                  <a:tcPr>
                    <a:solidFill>
                      <a:srgbClr val="EFF8F2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admin_users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528"/>
                          </a:solidFill>
                          <a:latin typeface="Microsoft YaHei"/>
                        </a:rPr>
                        <a:t>后台管理员账号与密码摘要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项目功能模块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07</a:t>
            </a:r>
          </a:p>
        </p:txBody>
      </p:sp>
      <p:pic>
        <p:nvPicPr>
          <p:cNvPr id="6" name="Picture 5" descr="14-function-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86559"/>
            <a:ext cx="5852160" cy="3576320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96012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前台：面向公众，负责信息展示和在线提交。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后台：面向管理员，负责数据维护和审核。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数据支撑：数据库统一存储，保证前台展示和后台管理数据一致。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功能覆盖课程要求：基本模块完整、业务流程闭环、数据库可落地。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前台功能演示：首页 + 动物公示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868680"/>
            <a:ext cx="562356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905" y="978407"/>
            <a:ext cx="3411588" cy="4507992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550408"/>
            <a:ext cx="534924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首页：统计数据、推荐动物、救助进展入口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868680"/>
            <a:ext cx="534924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animal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491807"/>
            <a:ext cx="5129783" cy="3481193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92240" y="5550408"/>
            <a:ext cx="507492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动物公示：卡片式展示待领养动物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前台功能演示：详情与申请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39496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2-anima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3223"/>
            <a:ext cx="5175504" cy="2909800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5596128"/>
            <a:ext cx="512064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动物详情：展示状态、地点、描述和领养入口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914400"/>
            <a:ext cx="539496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3-adoption-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268164"/>
            <a:ext cx="5175504" cy="4019919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00800" y="5596128"/>
            <a:ext cx="512064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领养申请：填写申请人信息和申请理由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前台功能演示：救助、志愿者、捐赠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868680"/>
            <a:ext cx="365760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rescue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92131"/>
            <a:ext cx="3438144" cy="2680544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550408"/>
            <a:ext cx="338328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救助案例公示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868680"/>
            <a:ext cx="365760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-volunteer-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148860"/>
            <a:ext cx="3438144" cy="2167087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453128" y="5550408"/>
            <a:ext cx="338328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志愿者报名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868680"/>
            <a:ext cx="352044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6-donation-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102674"/>
            <a:ext cx="3300984" cy="2259458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75320" y="5550408"/>
            <a:ext cx="324612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爱心捐赠登记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后台功能演示：登录与看板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14400"/>
            <a:ext cx="5074920" cy="498348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-admi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867471"/>
            <a:ext cx="4855464" cy="2729865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77240" y="5504688"/>
            <a:ext cx="480060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后台登录：admin / admin123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914400"/>
            <a:ext cx="5440680" cy="498348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8-admi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764651"/>
            <a:ext cx="5221224" cy="2935505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217920" y="5504688"/>
            <a:ext cx="516636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管理看板：集中展示业务统计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后台功能演示：数据维护与审核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868680"/>
            <a:ext cx="370332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-admin-anim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60074"/>
            <a:ext cx="3483863" cy="3144659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550408"/>
            <a:ext cx="342900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动物档案管理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868680"/>
            <a:ext cx="365760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0-admin-appl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2265897"/>
            <a:ext cx="3438144" cy="1933012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480560" y="5550408"/>
            <a:ext cx="338328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领养申请审核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868680"/>
            <a:ext cx="352044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E0E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1-admin-don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304455"/>
            <a:ext cx="3300984" cy="1855897"/>
          </a:xfrm>
          <a:prstGeom prst="rect">
            <a:avLst/>
          </a:prstGeom>
          <a:ln>
            <a:solidFill>
              <a:srgbClr val="DCE8E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75320" y="5550408"/>
            <a:ext cx="3246120" cy="2560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07568"/>
                </a:solidFill>
                <a:latin typeface="Microsoft YaHei"/>
              </a:rPr>
              <a:t>捐赠公示管理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运行与部署方式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IDEA 导入 Maven 项目，选择 JDK 17。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运行 ShixunApplication 即可启动内置 Tomcat。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浏览器访问：http://localhost:8080。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后台地址：/admin，默认账号 admin / admin123。</a:t>
            </a:r>
          </a:p>
          <a:p>
            <a:pPr>
              <a:spcAft>
                <a:spcPts val="800"/>
              </a:spcAft>
              <a:defRPr sz="1900">
                <a:solidFill>
                  <a:srgbClr val="1F3528"/>
                </a:solidFill>
                <a:latin typeface="Microsoft YaHei"/>
              </a:defRPr>
            </a:pPr>
            <a:r>
              <a:t>正式部署：导入 MySQL 脚本，执行 java -jar 运行 Jar 包。</a:t>
            </a:r>
          </a:p>
        </p:txBody>
      </p:sp>
      <p:pic>
        <p:nvPicPr>
          <p:cNvPr id="7" name="Picture 6" descr="1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30680"/>
            <a:ext cx="6035040" cy="3688080"/>
          </a:xfrm>
          <a:prstGeom prst="rect">
            <a:avLst/>
          </a:prstGeom>
          <a:ln>
            <a:solidFill>
              <a:srgbClr val="DCE8E0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77240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276749"/>
                </a:solidFill>
                <a:latin typeface="Microsoft YaHei"/>
              </a:rPr>
              <a:t>测试验证与项目亮点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28016"/>
            <a:ext cx="2103120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07568"/>
                </a:solidFill>
                <a:latin typeface="Microsoft YaHe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914400"/>
            <a:ext cx="3474720" cy="1828800"/>
          </a:xfrm>
          <a:prstGeom prst="roundRect">
            <a:avLst/>
          </a:prstGeom>
          <a:solidFill>
            <a:srgbClr val="EFF8F2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060704"/>
            <a:ext cx="314553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测试验证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481328"/>
            <a:ext cx="3145536" cy="11704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mvn test 与 mvn package 通过；页面访问、后台登录、导航跳转、数据维护流程正常。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914400"/>
            <a:ext cx="3474720" cy="1828800"/>
          </a:xfrm>
          <a:prstGeom prst="roundRect">
            <a:avLst/>
          </a:prstGeom>
          <a:solidFill>
            <a:srgbClr val="FAFDFB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1060704"/>
            <a:ext cx="314553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项目亮点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1481328"/>
            <a:ext cx="3145536" cy="11704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主题贴近公益场景；前后台分区清晰；数据库实体完整；导航和页面样式较统一。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914400"/>
            <a:ext cx="3200400" cy="1828800"/>
          </a:xfrm>
          <a:prstGeom prst="roundRect">
            <a:avLst/>
          </a:prstGeom>
          <a:solidFill>
            <a:srgbClr val="EFF8F2"/>
          </a:solidFill>
          <a:ln>
            <a:solidFill>
              <a:srgbClr val="DBE9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1060704"/>
            <a:ext cx="2871216" cy="32004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76749"/>
                </a:solidFill>
                <a:latin typeface="Microsoft YaHei"/>
              </a:rPr>
              <a:t>课程价值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1" y="1481328"/>
            <a:ext cx="2871216" cy="1170432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3528"/>
                </a:solidFill>
                <a:latin typeface="Microsoft YaHei"/>
              </a:rPr>
              <a:t>覆盖 JavaWeb、前端、数据库、需求分析与建模等课程知识点。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28"/>
                </a:solidFill>
                <a:latin typeface="Microsoft YaHei"/>
              </a:defRPr>
            </a:pPr>
            <a:r>
              <a:t>可扩展方向：图片上传、地图定位、消息通知、移动端适配、Spring Security 权限控制。</a:t>
            </a:r>
          </a:p>
          <a:p>
            <a:pPr>
              <a:spcAft>
                <a:spcPts val="800"/>
              </a:spcAft>
              <a:defRPr sz="2000">
                <a:solidFill>
                  <a:srgbClr val="1F3528"/>
                </a:solidFill>
                <a:latin typeface="Microsoft YaHei"/>
              </a:defRPr>
            </a:pPr>
            <a:r>
              <a:t>总结：系统实现了“信息公示 + 在线提交 + 后台维护 + 数据持久化”的完整闭环。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40280"/>
            <a:ext cx="10607040" cy="73152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3800" b="1">
                <a:solidFill>
                  <a:srgbClr val="276749"/>
                </a:solidFill>
                <a:latin typeface="Microsoft YaHei"/>
              </a:rPr>
              <a:t>答辩结束，感谢各位老师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54680"/>
            <a:ext cx="10607040" cy="457200"/>
          </a:xfrm>
          <a:prstGeom prst="rect">
            <a:avLst/>
          </a:prstGeom>
          <a:noFill/>
        </p:spPr>
        <p:txBody>
          <a:bodyPr wrap="none" lIns="45720" rIns="45720" tIns="27432" bIns="27432">
            <a:spAutoFit/>
          </a:bodyPr>
          <a:lstStyle/>
          <a:p>
            <a:pPr algn="ctr"/>
            <a:r>
              <a:rPr sz="2200" b="0">
                <a:solidFill>
                  <a:srgbClr val="1F3528"/>
                </a:solidFill>
                <a:latin typeface="Microsoft YaHei"/>
              </a:rPr>
              <a:t>流浪动物救助智能信息公示平台的设计与实现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